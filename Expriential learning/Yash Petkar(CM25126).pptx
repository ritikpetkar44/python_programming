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_1786896770581_e6ljqbx8_pptx_p1_final1slideLayout1.xml" ContentType="application/vnd.openxmlformats-officedocument.presentationml.slideLayout+xml"/>
  <Override PartName="/ppt/slideLayouts/s_1786896770581_e6ljqbx8_pptx_p1_final1slideLayout10.xml" ContentType="application/vnd.openxmlformats-officedocument.presentationml.slideLayout+xml"/>
  <Override PartName="/ppt/slideLayouts/s_1786896770581_e6ljqbx8_pptx_p1_final1slideLayout11.xml" ContentType="application/vnd.openxmlformats-officedocument.presentationml.slideLayout+xml"/>
  <Override PartName="/ppt/slideLayouts/s_1786896770581_e6ljqbx8_pptx_p1_final1slideLayout2.xml" ContentType="application/vnd.openxmlformats-officedocument.presentationml.slideLayout+xml"/>
  <Override PartName="/ppt/slideLayouts/s_1786896770581_e6ljqbx8_pptx_p1_final1slideLayout3.xml" ContentType="application/vnd.openxmlformats-officedocument.presentationml.slideLayout+xml"/>
  <Override PartName="/ppt/slideLayouts/s_1786896770581_e6ljqbx8_pptx_p1_final1slideLayout4.xml" ContentType="application/vnd.openxmlformats-officedocument.presentationml.slideLayout+xml"/>
  <Override PartName="/ppt/slideLayouts/s_1786896770581_e6ljqbx8_pptx_p1_final1slideLayout5.xml" ContentType="application/vnd.openxmlformats-officedocument.presentationml.slideLayout+xml"/>
  <Override PartName="/ppt/slideLayouts/s_1786896770581_e6ljqbx8_pptx_p1_final1slideLayout6.xml" ContentType="application/vnd.openxmlformats-officedocument.presentationml.slideLayout+xml"/>
  <Override PartName="/ppt/slideLayouts/s_1786896770581_e6ljqbx8_pptx_p1_final1slideLayout7.xml" ContentType="application/vnd.openxmlformats-officedocument.presentationml.slideLayout+xml"/>
  <Override PartName="/ppt/slideLayouts/s_1786896770581_e6ljqbx8_pptx_p1_final1slideLayout8.xml" ContentType="application/vnd.openxmlformats-officedocument.presentationml.slideLayout+xml"/>
  <Override PartName="/ppt/slideLayouts/s_1786896770581_e6ljqbx8_pptx_p1_final1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_1786896770581_e6ljqbx8_pptx_p1_final1slideMaster1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s/s_1786896770581_e6ljqbx8_pptx_p1_final1slide1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s_1786896770581_e6ljqbx8_pptx_p1_final1theme1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" r:id="rId16"/>
  </p:sldMasterIdLst>
  <p:sldIdLst>
    <p:sldId id="256" r:id="rId17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3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slideMaster" Target="slideMasters/s_1786896770581_e6ljqbx8_pptx_p1_final1slideMaster1.xml"/><Relationship Id="rId17" Type="http://schemas.openxmlformats.org/officeDocument/2006/relationships/slide" Target="slides/s_1786896770581_e6ljqbx8_pptx_p1_final1slide1.xml"/></Relationships>
</file>

<file path=ppt/slideLayouts/_rels/s_1786896770581_e6ljqbx8_pptx_p1_final1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6896770581_e6ljqbx8_pptx_p1_final1slideMaster1.xml"/></Relationships>
</file>

<file path=ppt/slideLayouts/_rels/s_1786896770581_e6ljqbx8_pptx_p1_final1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6896770581_e6ljqbx8_pptx_p1_final1slideMaster1.xml"/></Relationships>
</file>

<file path=ppt/slideLayouts/_rels/s_1786896770581_e6ljqbx8_pptx_p1_final1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6896770581_e6ljqbx8_pptx_p1_final1slideMaster1.xml"/></Relationships>
</file>

<file path=ppt/slideLayouts/_rels/s_1786896770581_e6ljqbx8_pptx_p1_final1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6896770581_e6ljqbx8_pptx_p1_final1slideMaster1.xml"/></Relationships>
</file>

<file path=ppt/slideLayouts/_rels/s_1786896770581_e6ljqbx8_pptx_p1_final1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6896770581_e6ljqbx8_pptx_p1_final1slideMaster1.xml"/></Relationships>
</file>

<file path=ppt/slideLayouts/_rels/s_1786896770581_e6ljqbx8_pptx_p1_final1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6896770581_e6ljqbx8_pptx_p1_final1slideMaster1.xml"/></Relationships>
</file>

<file path=ppt/slideLayouts/_rels/s_1786896770581_e6ljqbx8_pptx_p1_final1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6896770581_e6ljqbx8_pptx_p1_final1slideMaster1.xml"/></Relationships>
</file>

<file path=ppt/slideLayouts/_rels/s_1786896770581_e6ljqbx8_pptx_p1_final1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6896770581_e6ljqbx8_pptx_p1_final1slideMaster1.xml"/></Relationships>
</file>

<file path=ppt/slideLayouts/_rels/s_1786896770581_e6ljqbx8_pptx_p1_final1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6896770581_e6ljqbx8_pptx_p1_final1slideMaster1.xml"/></Relationships>
</file>

<file path=ppt/slideLayouts/_rels/s_1786896770581_e6ljqbx8_pptx_p1_final1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6896770581_e6ljqbx8_pptx_p1_final1slideMaster1.xml"/></Relationships>
</file>

<file path=ppt/slideLayouts/_rels/s_1786896770581_e6ljqbx8_pptx_p1_final1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_1786896770581_e6ljqbx8_pptx_p1_final1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_1786896770581_e6ljqbx8_pptx_p1_final1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_1786896770581_e6ljqbx8_pptx_p1_final1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_1786896770581_e6ljqbx8_pptx_p1_final1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_1786896770581_e6ljqbx8_pptx_p1_final1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_1786896770581_e6ljqbx8_pptx_p1_final1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_1786896770581_e6ljqbx8_pptx_p1_final1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_1786896770581_e6ljqbx8_pptx_p1_final1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_1786896770581_e6ljqbx8_pptx_p1_final1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_1786896770581_e6ljqbx8_pptx_p1_final1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_1786896770581_e6ljqbx8_pptx_p1_final1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_1786896770581_e6ljqbx8_pptx_p1_final1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_1786896770581_e6ljqbx8_pptx_p1_final1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_1786896770581_e6ljqbx8_pptx_p1_final1slideLayout9.xml"/><Relationship Id="rId2" Type="http://schemas.openxmlformats.org/officeDocument/2006/relationships/slideLayout" Target="../slideLayouts/s_1786896770581_e6ljqbx8_pptx_p1_final1slideLayout8.xml"/><Relationship Id="rId3" Type="http://schemas.openxmlformats.org/officeDocument/2006/relationships/slideLayout" Target="../slideLayouts/s_1786896770581_e6ljqbx8_pptx_p1_final1slideLayout7.xml"/><Relationship Id="rId4" Type="http://schemas.openxmlformats.org/officeDocument/2006/relationships/slideLayout" Target="../slideLayouts/s_1786896770581_e6ljqbx8_pptx_p1_final1slideLayout6.xml"/><Relationship Id="rId5" Type="http://schemas.openxmlformats.org/officeDocument/2006/relationships/slideLayout" Target="../slideLayouts/s_1786896770581_e6ljqbx8_pptx_p1_final1slideLayout5.xml"/><Relationship Id="rId6" Type="http://schemas.openxmlformats.org/officeDocument/2006/relationships/slideLayout" Target="../slideLayouts/s_1786896770581_e6ljqbx8_pptx_p1_final1slideLayout4.xml"/><Relationship Id="rId7" Type="http://schemas.openxmlformats.org/officeDocument/2006/relationships/slideLayout" Target="../slideLayouts/s_1786896770581_e6ljqbx8_pptx_p1_final1slideLayout3.xml"/><Relationship Id="rId8" Type="http://schemas.openxmlformats.org/officeDocument/2006/relationships/slideLayout" Target="../slideLayouts/s_1786896770581_e6ljqbx8_pptx_p1_final1slideLayout2.xml"/><Relationship Id="rId9" Type="http://schemas.openxmlformats.org/officeDocument/2006/relationships/theme" Target="../theme/s_1786896770581_e6ljqbx8_pptx_p1_final1theme1.xml"/><Relationship Id="rId10" Type="http://schemas.openxmlformats.org/officeDocument/2006/relationships/slideLayout" Target="../slideLayouts/s_1786896770581_e6ljqbx8_pptx_p1_final1slideLayout11.xml"/><Relationship Id="rId11" Type="http://schemas.openxmlformats.org/officeDocument/2006/relationships/slideLayout" Target="../slideLayouts/s_1786896770581_e6ljqbx8_pptx_p1_final1slideLayout10.xml"/><Relationship Id="rId12" Type="http://schemas.openxmlformats.org/officeDocument/2006/relationships/slideLayout" Target="../slideLayouts/s_1786896770581_e6ljqbx8_pptx_p1_final1slideLayout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_1786896770581_e6ljqbx8_pptx_p1_final1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2"/>
    <p:sldLayoutId id="2147483650" r:id="rId8"/>
    <p:sldLayoutId id="2147483651" r:id="rId7"/>
    <p:sldLayoutId id="2147483652" r:id="rId6"/>
    <p:sldLayoutId id="2147483653" r:id="rId5"/>
    <p:sldLayoutId id="2147483654" r:id="rId4"/>
    <p:sldLayoutId id="2147483655" r:id="rId3"/>
    <p:sldLayoutId id="2147483656" r:id="rId2"/>
    <p:sldLayoutId id="2147483657" r:id="rId1"/>
    <p:sldLayoutId id="2147483658" r:id="rId11"/>
    <p:sldLayoutId id="2147483659" r:id="rId1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_1786896770581_e6ljqbx8_pptx_p1_final1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_1786896770581_e6ljqbx8_pptx_p1_final1slideLayout7.xml"/><Relationship Id="rId2" Type="http://schemas.openxmlformats.org/officeDocument/2006/relationships/image" Target="../media/s_1786896770581_e6ljqbx8_pptx_p1_final1image1.png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/Relationships>
</file>

<file path=ppt/slides/s_1786896770581_e6ljqbx8_pptx_p1_final1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" y="131445"/>
            <a:ext cx="9144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69875" y="3584575"/>
            <a:ext cx="2331720" cy="50165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lnSpc>
                <a:spcPct val="140000"/>
              </a:lnSpc>
              <a:defRPr sz="1900" b="1">
                <a:solidFill>
                  <a:srgbClr val="191919"/>
                </a:solidFill>
                <a:latin typeface="Times New Roman" panose="02020603050405020304"/>
              </a:defRPr>
            </a:pPr>
            <a:r>
              <a:t>Yash Petkar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20" y="1849120"/>
            <a:ext cx="5394960" cy="5645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18714" y="1953006"/>
            <a:ext cx="444373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000FF"/>
                </a:solidFill>
                <a:latin typeface="Times New Roman" panose="02020603050405020304"/>
              </a:defRPr>
            </a:pPr>
            <a:r>
              <a:rPr sz="2400">
                <a:solidFill>
                  <a:schemeClr val="tx1"/>
                </a:solidFill>
              </a:rPr>
              <a:t>“Balanced Parenthesis Checker”</a:t>
            </a:r>
            <a:endParaRPr sz="2400">
              <a:solidFill>
                <a:schemeClr val="tx1"/>
              </a:solidFill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411480" y="654380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7863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Arial" panose="020B0604020202020204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70432"/>
            <a:ext cx="7955279" cy="1874519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53312"/>
            <a:ext cx="7223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89AFB0"/>
                </a:solidFill>
                <a:latin typeface="Arial" panose="020B0604020202020204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583817"/>
            <a:ext cx="7269480" cy="13220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232323"/>
                </a:solidFill>
                <a:latin typeface="Arial" panose="020B0604020202020204"/>
              </a:defRPr>
            </a:pPr>
            <a:r>
              <a:rPr sz="2000">
                <a:sym typeface="+mn-ea"/>
              </a:rPr>
              <a:t>Develop a Python-based application that checks whether an expression contains properly balanced parentheses, brackets and braces.</a:t>
            </a:r>
            <a:endParaRPr sz="2000">
              <a:sym typeface="+mn-ea"/>
            </a:endParaRPr>
          </a:p>
          <a:p>
            <a:pPr algn="l">
              <a:defRPr sz="2200" b="1">
                <a:solidFill>
                  <a:srgbClr val="232323"/>
                </a:solidFill>
                <a:latin typeface="Arial" panose="020B0604020202020204"/>
              </a:defRPr>
            </a:pPr>
            <a:endParaRPr sz="2000">
              <a:sym typeface="+mn-ea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3401568"/>
            <a:ext cx="2331720" cy="1325880"/>
          </a:xfrm>
          <a:prstGeom prst="roundRect">
            <a:avLst/>
          </a:prstGeom>
          <a:solidFill>
            <a:srgbClr val="F2F7F7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502152"/>
            <a:ext cx="685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89AFB0"/>
                </a:solidFill>
                <a:latin typeface="Consolas" panose="020B0609020204030204"/>
              </a:defRPr>
            </a:pPr>
            <a:r>
              <a:t>(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3529584"/>
            <a:ext cx="3840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5F5F5F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502152"/>
            <a:ext cx="960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89AFB0"/>
                </a:solidFill>
                <a:latin typeface="Consolas" panose="020B0609020204030204"/>
              </a:defRPr>
            </a:pPr>
            <a: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160520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32323"/>
                </a:solidFill>
                <a:latin typeface="Arial" panose="020B0604020202020204"/>
              </a:defRPr>
            </a:pPr>
            <a:r>
              <a:t>Parentheses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39" y="3401568"/>
            <a:ext cx="2331720" cy="1325880"/>
          </a:xfrm>
          <a:prstGeom prst="roundRect">
            <a:avLst/>
          </a:prstGeom>
          <a:solidFill>
            <a:srgbClr val="F2F7F7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8999" y="3502152"/>
            <a:ext cx="685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89AFB0"/>
                </a:solidFill>
                <a:latin typeface="Consolas" panose="020B0609020204030204"/>
              </a:defRPr>
            </a:pPr>
            <a:r>
              <a:t>[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3529584"/>
            <a:ext cx="3840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5F5F5F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502152"/>
            <a:ext cx="960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89AFB0"/>
                </a:solidFill>
                <a:latin typeface="Consolas" panose="020B0609020204030204"/>
              </a:defRPr>
            </a:pPr>
            <a:r>
              <a:t>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8999" y="4160520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32323"/>
                </a:solidFill>
                <a:latin typeface="Arial" panose="020B0604020202020204"/>
              </a:defRPr>
            </a:pPr>
            <a:r>
              <a:t>Brackets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59" y="3401568"/>
            <a:ext cx="2331720" cy="1325880"/>
          </a:xfrm>
          <a:prstGeom prst="roundRect">
            <a:avLst/>
          </a:prstGeom>
          <a:solidFill>
            <a:srgbClr val="F2F7F7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502152"/>
            <a:ext cx="685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89AFB0"/>
                </a:solidFill>
                <a:latin typeface="Consolas" panose="020B0609020204030204"/>
              </a:defRPr>
            </a:pPr>
            <a:r>
              <a:t>{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529584"/>
            <a:ext cx="38404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 b="1">
                <a:solidFill>
                  <a:srgbClr val="5F5F5F"/>
                </a:solidFill>
                <a:latin typeface="Arial" panose="020B0604020202020204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502152"/>
            <a:ext cx="96012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89AFB0"/>
                </a:solidFill>
                <a:latin typeface="Consolas" panose="020B0609020204030204"/>
              </a:defRPr>
            </a:pPr>
            <a:r>
              <a:t>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4160520"/>
            <a:ext cx="2057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232323"/>
                </a:solidFill>
                <a:latin typeface="Arial" panose="020B0604020202020204"/>
              </a:defRPr>
            </a:pPr>
            <a:r>
              <a:t>Braces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047488"/>
            <a:ext cx="7543800" cy="822960"/>
          </a:xfrm>
          <a:prstGeom prst="roundRect">
            <a:avLst/>
          </a:prstGeom>
          <a:solidFill>
            <a:srgbClr val="ECF4F4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193792"/>
            <a:ext cx="7178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232323"/>
                </a:solidFill>
                <a:latin typeface="Arial" panose="020B0604020202020204"/>
              </a:defRPr>
            </a:pPr>
            <a:r>
              <a:t>Mathematical expressions + code snippets  •  correct nesting  •  clear result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7863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Arial" panose="020B0604020202020204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36118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4416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89AFB0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129844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Arial" panose="020B0604020202020204"/>
              </a:defRPr>
            </a:pPr>
            <a:r>
              <a:t>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664208"/>
            <a:ext cx="25603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5F5F5F"/>
                </a:solidFill>
                <a:latin typeface="Arial" panose="020B0604020202020204"/>
              </a:defRPr>
            </a:pPr>
            <a:r>
              <a:t>Verify (), [] and {} pairs.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188720"/>
            <a:ext cx="36118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34416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89AFB0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40679" y="129844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Arial" panose="020B0604020202020204"/>
              </a:defRPr>
            </a:pPr>
            <a:r>
              <a:t>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79" y="1664208"/>
            <a:ext cx="25603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5F5F5F"/>
                </a:solidFill>
                <a:latin typeface="Arial" panose="020B0604020202020204"/>
              </a:defRPr>
            </a:pPr>
            <a:r>
              <a:t>Check correct nesting order.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43200"/>
            <a:ext cx="36118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9864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89AFB0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85292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Arial" panose="020B0604020202020204"/>
              </a:defRPr>
            </a:pPr>
            <a:r>
              <a:t>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3218688"/>
            <a:ext cx="25603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5F5F5F"/>
                </a:solidFill>
                <a:latin typeface="Arial" panose="020B0604020202020204"/>
              </a:defRPr>
            </a:pPr>
            <a:r>
              <a:t>Use LIFO stack logic.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2743200"/>
            <a:ext cx="36118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89864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89AFB0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79" y="285292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Arial" panose="020B0604020202020204"/>
              </a:defRPr>
            </a:pPr>
            <a:r>
              <a:t>DETECT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79" y="3218688"/>
            <a:ext cx="25603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5F5F5F"/>
                </a:solidFill>
                <a:latin typeface="Arial" panose="020B0604020202020204"/>
              </a:defRPr>
            </a:pPr>
            <a:r>
              <a:t>Find mismatches &amp; missing symbols.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297680"/>
            <a:ext cx="36118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5312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89AFB0"/>
                </a:solidFill>
                <a:latin typeface="Arial" panose="020B0604020202020204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440740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Arial" panose="020B0604020202020204"/>
              </a:defRPr>
            </a:pPr>
            <a:r>
              <a:t>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19" y="4773168"/>
            <a:ext cx="25603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5F5F5F"/>
                </a:solidFill>
                <a:latin typeface="Arial" panose="020B0604020202020204"/>
              </a:defRPr>
            </a:pPr>
            <a:r>
              <a:t>Return Balanced / Not Balanced.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4297680"/>
            <a:ext cx="36118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4453128"/>
            <a:ext cx="5486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89AFB0"/>
                </a:solidFill>
                <a:latin typeface="Arial" panose="020B0604020202020204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79" y="4407408"/>
            <a:ext cx="25603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Arial" panose="020B0604020202020204"/>
              </a:defRPr>
            </a:pPr>
            <a:r>
              <a:t>LEARN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79" y="4773168"/>
            <a:ext cx="256032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5F5F5F"/>
                </a:solidFill>
                <a:latin typeface="Arial" panose="020B0604020202020204"/>
              </a:defRPr>
            </a:pPr>
            <a:r>
              <a:t>Apply Python lists, loops &amp; conditions.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8404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191919"/>
                </a:solidFill>
                <a:latin typeface="Arial" panose="020B0604020202020204"/>
              </a:defRPr>
            </a:pPr>
            <a:r>
              <a:t>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143000"/>
            <a:ext cx="411480" cy="411480"/>
          </a:xfrm>
          <a:prstGeom prst="ellipse">
            <a:avLst/>
          </a:prstGeom>
          <a:solidFill>
            <a:srgbClr val="89A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124712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Read the expression from the user.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09928"/>
            <a:ext cx="411480" cy="411480"/>
          </a:xfrm>
          <a:prstGeom prst="ellipse">
            <a:avLst/>
          </a:prstGeom>
          <a:solidFill>
            <a:srgbClr val="89A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Create an empty stack.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276856"/>
            <a:ext cx="411480" cy="411480"/>
          </a:xfrm>
          <a:prstGeom prst="ellipse">
            <a:avLst/>
          </a:prstGeom>
          <a:solidFill>
            <a:srgbClr val="89A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258568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Scan the expression character by character.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843784"/>
            <a:ext cx="411480" cy="411480"/>
          </a:xfrm>
          <a:prstGeom prst="ellipse">
            <a:avLst/>
          </a:prstGeom>
          <a:solidFill>
            <a:srgbClr val="89A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825496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For an opening symbol, push it into the stack.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410712"/>
            <a:ext cx="411480" cy="411480"/>
          </a:xfrm>
          <a:prstGeom prst="ellipse">
            <a:avLst/>
          </a:prstGeom>
          <a:solidFill>
            <a:srgbClr val="89A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392424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For a closing symbol, first check whether the stack is empty.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977640"/>
            <a:ext cx="411480" cy="411480"/>
          </a:xfrm>
          <a:prstGeom prst="ellipse">
            <a:avLst/>
          </a:prstGeom>
          <a:solidFill>
            <a:srgbClr val="89A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959352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Pop the top opening symbol and compare it with the closing symbol.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4544568"/>
            <a:ext cx="411480" cy="411480"/>
          </a:xfrm>
          <a:prstGeom prst="ellipse">
            <a:avLst/>
          </a:prstGeom>
          <a:solidFill>
            <a:srgbClr val="89A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52628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If the pair does not match, return False.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5111496"/>
            <a:ext cx="411480" cy="411480"/>
          </a:xfrm>
          <a:prstGeom prst="ellipse">
            <a:avLst/>
          </a:prstGeom>
          <a:solidFill>
            <a:srgbClr val="89AF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 panose="020B0604020202020204"/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093208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After scanning, an empty stack means Balanced; otherwise Not Balanced.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8404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191919"/>
                </a:solidFill>
                <a:latin typeface="Arial" panose="020B0604020202020204"/>
              </a:defRPr>
            </a:pPr>
            <a:r>
              <a:t>Flowchart / Pseudocode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051560"/>
            <a:ext cx="2286000" cy="502920"/>
          </a:xfrm>
          <a:prstGeom prst="roundRect">
            <a:avLst/>
          </a:prstGeom>
          <a:solidFill>
            <a:srgbClr val="F4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1783080"/>
            <a:ext cx="2834640" cy="566928"/>
          </a:xfrm>
          <a:prstGeom prst="roundRect">
            <a:avLst/>
          </a:prstGeom>
          <a:solidFill>
            <a:srgbClr val="F4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Input expression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2606040"/>
            <a:ext cx="3017520" cy="566928"/>
          </a:xfrm>
          <a:prstGeom prst="roundRect">
            <a:avLst/>
          </a:prstGeom>
          <a:solidFill>
            <a:srgbClr val="F4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Read next character</a:t>
            </a:r>
          </a:p>
        </p:txBody>
      </p:sp>
      <p:sp>
        <p:nvSpPr>
          <p:cNvPr id="8" name="Diamond 7"/>
          <p:cNvSpPr/>
          <p:nvPr/>
        </p:nvSpPr>
        <p:spPr>
          <a:xfrm>
            <a:off x="2788920" y="3429000"/>
            <a:ext cx="3566160" cy="777240"/>
          </a:xfrm>
          <a:prstGeom prst="diamond">
            <a:avLst/>
          </a:prstGeom>
          <a:solidFill>
            <a:srgbClr val="F4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Opening symbol?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3429000"/>
            <a:ext cx="1965960" cy="777240"/>
          </a:xfrm>
          <a:prstGeom prst="roundRect">
            <a:avLst/>
          </a:prstGeom>
          <a:solidFill>
            <a:srgbClr val="F4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Push to stack</a:t>
            </a:r>
          </a:p>
        </p:txBody>
      </p:sp>
      <p:sp>
        <p:nvSpPr>
          <p:cNvPr id="10" name="Diamond 9"/>
          <p:cNvSpPr/>
          <p:nvPr/>
        </p:nvSpPr>
        <p:spPr>
          <a:xfrm>
            <a:off x="685800" y="4526280"/>
            <a:ext cx="1965960" cy="777240"/>
          </a:xfrm>
          <a:prstGeom prst="diamond">
            <a:avLst/>
          </a:prstGeom>
          <a:solidFill>
            <a:srgbClr val="F4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Closing symbol?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526280"/>
            <a:ext cx="2011680" cy="777240"/>
          </a:xfrm>
          <a:prstGeom prst="roundRect">
            <a:avLst/>
          </a:prstGeom>
          <a:solidFill>
            <a:srgbClr val="F4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Pop &amp; compare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80" y="4526280"/>
            <a:ext cx="1965960" cy="777240"/>
          </a:xfrm>
          <a:prstGeom prst="roundRect">
            <a:avLst/>
          </a:prstGeom>
          <a:solidFill>
            <a:srgbClr val="FCEBEB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Mismatch → False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5623560"/>
            <a:ext cx="2011680" cy="594360"/>
          </a:xfrm>
          <a:prstGeom prst="roundRect">
            <a:avLst/>
          </a:prstGeom>
          <a:solidFill>
            <a:srgbClr val="F4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More characters?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5623560"/>
            <a:ext cx="1874519" cy="594360"/>
          </a:xfrm>
          <a:prstGeom prst="roundRect">
            <a:avLst/>
          </a:prstGeom>
          <a:solidFill>
            <a:srgbClr val="E9F7EE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91919"/>
                </a:solidFill>
                <a:latin typeface="Arial" panose="020B0604020202020204"/>
              </a:defRPr>
            </a:pPr>
            <a:r>
              <a:t>Stack empty → True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72000" y="1554480"/>
            <a:ext cx="0" cy="22860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572000" y="2350008"/>
            <a:ext cx="0" cy="256032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72000" y="3172968"/>
            <a:ext cx="0" cy="256032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355080" y="3822191"/>
            <a:ext cx="182880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257800" y="4206240"/>
            <a:ext cx="1280160" cy="50292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691640" y="3822191"/>
            <a:ext cx="1097280" cy="704089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651760" y="4919472"/>
            <a:ext cx="594360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257800" y="4919472"/>
            <a:ext cx="640080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51960" y="5303520"/>
            <a:ext cx="0" cy="32004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257800" y="5916168"/>
            <a:ext cx="731520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20840" y="4224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68C55"/>
                </a:solidFill>
                <a:latin typeface="Arial" panose="020B0604020202020204"/>
              </a:defRPr>
            </a:pPr>
            <a:r>
              <a:t>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160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68C55"/>
                </a:solidFill>
                <a:latin typeface="Arial" panose="020B0604020202020204"/>
              </a:defRPr>
            </a:pPr>
            <a:r>
              <a:t>YES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1808" y="54681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E4141"/>
                </a:solidFill>
                <a:latin typeface="Arial" panose="020B0604020202020204"/>
              </a:defRPr>
            </a:pPr>
            <a: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1808" y="5989320"/>
            <a:ext cx="594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68C55"/>
                </a:solidFill>
                <a:latin typeface="Arial" panose="020B0604020202020204"/>
              </a:defRPr>
            </a:pPr>
            <a:r>
              <a:t>YES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8404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191919"/>
                </a:solidFill>
                <a:latin typeface="Arial" panose="020B0604020202020204"/>
              </a:defRPr>
            </a:pPr>
            <a:r>
              <a:t>Understanding of Python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70432"/>
            <a:ext cx="2240280" cy="621792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9304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Consolas" panose="020B0609020204030204"/>
              </a:defRPr>
            </a:pPr>
            <a:r>
              <a:t>stack = []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243584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Creates an empty list used as a stack.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2240280" cy="621792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03911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Consolas" panose="020B0609020204030204"/>
              </a:defRPr>
            </a:pPr>
            <a:r>
              <a:t>stack.append(ch)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993392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Pushes an opening bracket onto the stack.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70048"/>
            <a:ext cx="2240280" cy="621792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7889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Consolas" panose="020B0609020204030204"/>
              </a:defRPr>
            </a:pPr>
            <a:r>
              <a:t>stack.pop()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743200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Removes the latest opening bracket (LIFO).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19856"/>
            <a:ext cx="2240280" cy="621792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538727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Consolas" panose="020B0609020204030204"/>
              </a:defRPr>
            </a:pPr>
            <a:r>
              <a:t>if len(stack) ==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3493008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Detects a closing bracket without an opening bracket.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69663"/>
            <a:ext cx="2240280" cy="621792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88536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Consolas" panose="020B0609020204030204"/>
              </a:defRPr>
            </a:pPr>
            <a:r>
              <a:t>top != matching symbol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4242816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Detects incorrect nesting/order.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919472"/>
            <a:ext cx="2240280" cy="621792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38344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91919"/>
                </a:solidFill>
                <a:latin typeface="Consolas" panose="020B0609020204030204"/>
              </a:defRPr>
            </a:pPr>
            <a:r>
              <a:t>return len(stack) == 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4992624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91919"/>
                </a:solidFill>
                <a:latin typeface="Arial" panose="020B0604020202020204"/>
              </a:defRPr>
            </a:pPr>
            <a:r>
              <a:t>Final check: all opening symbols were matched.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8404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191919"/>
                </a:solidFill>
                <a:latin typeface="Arial" panose="020B0604020202020204"/>
              </a:defRPr>
            </a:pPr>
            <a:r>
              <a:t>Python Code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887095"/>
            <a:ext cx="8138160" cy="5394960"/>
          </a:xfrm>
          <a:prstGeom prst="roundRect">
            <a:avLst/>
          </a:prstGeom>
          <a:solidFill>
            <a:srgbClr val="F8F8F8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3087" y="995680"/>
            <a:ext cx="7726679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30">
                <a:solidFill>
                  <a:srgbClr val="191919"/>
                </a:solidFill>
                <a:latin typeface="Consolas" panose="020B0609020204030204"/>
              </a:defRPr>
            </a:pPr>
            <a:r>
              <a:t>def check(expression):</a:t>
            </a:r>
            <a:br/>
            <a:r>
              <a:t>    stack = []</a:t>
            </a:r>
            <a:br/>
            <a:br/>
            <a:r>
              <a:t>    for ch in expression:</a:t>
            </a:r>
            <a:br/>
            <a:r>
              <a:t>        if ch == '(' or ch == '[' or ch == '{':</a:t>
            </a:r>
            <a:br/>
            <a:r>
              <a:t>            stack.append(ch)</a:t>
            </a:r>
            <a:br/>
            <a:br/>
            <a:r>
              <a:t>        elif ch == ')' or ch == ']' or ch == '}':</a:t>
            </a:r>
            <a:br/>
            <a:r>
              <a:t>            if len(stack) == 0:</a:t>
            </a:r>
            <a:br/>
            <a:r>
              <a:t>                return False</a:t>
            </a:r>
            <a:br/>
            <a:br/>
            <a:r>
              <a:t>            top = stack.pop()</a:t>
            </a:r>
            <a:br/>
            <a:br/>
            <a:r>
              <a:t>            if ch == ')' and top != '(':</a:t>
            </a:r>
            <a:br/>
            <a:r>
              <a:t>                return False</a:t>
            </a:r>
            <a:br/>
            <a:r>
              <a:t>            if ch == ']' and top != '[':</a:t>
            </a:r>
            <a:br/>
            <a:r>
              <a:t>                return False</a:t>
            </a:r>
            <a:br/>
            <a:r>
              <a:t>            if ch == '}' and top != '{':</a:t>
            </a:r>
            <a:br/>
            <a:r>
              <a:t>                return False</a:t>
            </a:r>
            <a:br/>
            <a:br/>
            <a:r>
              <a:t>    return len(stack) == 0</a:t>
            </a:r>
            <a:br/>
            <a:br/>
            <a:br/>
            <a:r>
              <a:t>expression = input("Enter an expression: ")</a:t>
            </a:r>
            <a:br/>
            <a:br/>
            <a:r>
              <a:t>if check(expression):</a:t>
            </a:r>
            <a:br/>
            <a:r>
              <a:t>    print("Balanced Parentheses")</a:t>
            </a:r>
            <a:br/>
            <a:r>
              <a:t>else:</a:t>
            </a:r>
            <a:br/>
            <a:r>
              <a:t>    print("Not Balanced Parentheses")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8404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191919"/>
                </a:solidFill>
                <a:latin typeface="Arial" panose="020B0604020202020204"/>
              </a:defRPr>
            </a:pPr>
            <a:r>
              <a:t>Sample Input / Output &amp; Stack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3794760" cy="658368"/>
          </a:xfrm>
          <a:prstGeom prst="roundRect">
            <a:avLst/>
          </a:prstGeom>
          <a:solidFill>
            <a:srgbClr val="F5F8F8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8930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1919"/>
                </a:solidFill>
                <a:latin typeface="Consolas" panose="020B0609020204030204"/>
              </a:defRPr>
            </a:pPr>
            <a:r>
              <a:t>{[()]}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143000"/>
            <a:ext cx="3566160" cy="658368"/>
          </a:xfrm>
          <a:prstGeom prst="roundRect">
            <a:avLst/>
          </a:prstGeom>
          <a:solidFill>
            <a:srgbClr val="368C55"/>
          </a:solidFill>
          <a:ln w="15240">
            <a:solidFill>
              <a:srgbClr val="368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28930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t>Balanced Parentheses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65960"/>
            <a:ext cx="3794760" cy="658368"/>
          </a:xfrm>
          <a:prstGeom prst="roundRect">
            <a:avLst/>
          </a:prstGeom>
          <a:solidFill>
            <a:srgbClr val="F5F8F8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1226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1919"/>
                </a:solidFill>
                <a:latin typeface="Consolas" panose="020B0609020204030204"/>
              </a:defRPr>
            </a:pPr>
            <a:r>
              <a:t>{[(])}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1965960"/>
            <a:ext cx="3566160" cy="658368"/>
          </a:xfrm>
          <a:prstGeom prst="roundRect">
            <a:avLst/>
          </a:prstGeom>
          <a:solidFill>
            <a:srgbClr val="BE4141"/>
          </a:solidFill>
          <a:ln w="1524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1122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t>Not Balanced Parentheses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88920"/>
            <a:ext cx="3794760" cy="658368"/>
          </a:xfrm>
          <a:prstGeom prst="roundRect">
            <a:avLst/>
          </a:prstGeom>
          <a:solidFill>
            <a:srgbClr val="F5F8F8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293522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1919"/>
                </a:solidFill>
                <a:latin typeface="Consolas" panose="020B0609020204030204"/>
              </a:defRPr>
            </a:pPr>
            <a:r>
              <a:t>(a+b) * [c-d]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2788920"/>
            <a:ext cx="3566160" cy="658368"/>
          </a:xfrm>
          <a:prstGeom prst="roundRect">
            <a:avLst/>
          </a:prstGeom>
          <a:solidFill>
            <a:srgbClr val="368C55"/>
          </a:solidFill>
          <a:ln w="15240">
            <a:solidFill>
              <a:srgbClr val="368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29352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t>Balanced Parentheses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79"/>
            <a:ext cx="3794760" cy="658368"/>
          </a:xfrm>
          <a:prstGeom prst="roundRect">
            <a:avLst/>
          </a:prstGeom>
          <a:solidFill>
            <a:srgbClr val="F5F8F8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58183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1919"/>
                </a:solidFill>
                <a:latin typeface="Consolas" panose="020B0609020204030204"/>
              </a:defRPr>
            </a:pPr>
            <a:r>
              <a:t>((a+b)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3611879"/>
            <a:ext cx="3566160" cy="658368"/>
          </a:xfrm>
          <a:prstGeom prst="roundRect">
            <a:avLst/>
          </a:prstGeom>
          <a:solidFill>
            <a:srgbClr val="BE4141"/>
          </a:solidFill>
          <a:ln w="1524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00600" y="375818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 panose="020B0604020202020204"/>
              </a:defRPr>
            </a:pPr>
            <a:r>
              <a:t>Not Balanced Parentheses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0916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91919"/>
                </a:solidFill>
                <a:latin typeface="Arial" panose="020B0604020202020204"/>
              </a:defRPr>
            </a:pPr>
            <a:r>
              <a:t>Example of LIFO stack processing: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5257800"/>
            <a:ext cx="685800" cy="502920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5838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Consolas" panose="020B0609020204030204"/>
              </a:defRPr>
            </a:pPr>
            <a:r>
              <a:t>{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64792" y="5504688"/>
            <a:ext cx="228599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194560" y="5257800"/>
            <a:ext cx="685800" cy="502920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94560" y="535838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Consolas" panose="020B0609020204030204"/>
              </a:defRPr>
            </a:pPr>
            <a:r>
              <a:t>[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907791" y="5504688"/>
            <a:ext cx="228600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337560" y="5257800"/>
            <a:ext cx="685800" cy="502920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37560" y="535838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Consolas" panose="020B0609020204030204"/>
              </a:defRPr>
            </a:pPr>
            <a:r>
              <a:t>(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050791" y="5504688"/>
            <a:ext cx="228601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480560" y="5257800"/>
            <a:ext cx="685800" cy="502920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535838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Consolas" panose="020B0609020204030204"/>
              </a:defRPr>
            </a:pPr>
            <a:r>
              <a:t>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193792" y="5504688"/>
            <a:ext cx="228600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623560" y="5257800"/>
            <a:ext cx="685800" cy="502920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23560" y="535838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Consolas" panose="020B0609020204030204"/>
              </a:defRPr>
            </a:pPr>
            <a:r>
              <a:t>]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336792" y="5504688"/>
            <a:ext cx="228600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766560" y="5257800"/>
            <a:ext cx="685800" cy="502920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5358384"/>
            <a:ext cx="685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Consolas" panose="020B0609020204030204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384048"/>
            <a:ext cx="79552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0">
                <a:solidFill>
                  <a:srgbClr val="191919"/>
                </a:solidFill>
                <a:latin typeface="Arial" panose="020B0604020202020204"/>
              </a:defRPr>
            </a:pPr>
            <a:r>
              <a:t>Test Results &amp; Complexity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1919"/>
                </a:solidFill>
                <a:latin typeface="Arial" panose="020B0604020202020204"/>
              </a:defRPr>
            </a:pPr>
            <a:r>
              <a:t>Sample Test Set Results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143000" y="5120640"/>
            <a:ext cx="3337560" cy="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1143000" y="1828800"/>
            <a:ext cx="0" cy="3291840"/>
          </a:xfrm>
          <a:prstGeom prst="line">
            <a:avLst/>
          </a:prstGeom>
          <a:ln w="25400">
            <a:solidFill>
              <a:srgbClr val="89AF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828800" y="2788920"/>
            <a:ext cx="960120" cy="2331720"/>
          </a:xfrm>
          <a:prstGeom prst="rect">
            <a:avLst/>
          </a:prstGeom>
          <a:solidFill>
            <a:srgbClr val="368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37560" y="2788920"/>
            <a:ext cx="960120" cy="2331720"/>
          </a:xfrm>
          <a:prstGeom prst="rect">
            <a:avLst/>
          </a:prstGeom>
          <a:solidFill>
            <a:srgbClr val="BE41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5257800"/>
            <a:ext cx="1417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91919"/>
                </a:solidFill>
                <a:latin typeface="Arial" panose="020B0604020202020204"/>
              </a:defRPr>
            </a:pPr>
            <a:r>
              <a:t>Balanced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5257800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91919"/>
                </a:solidFill>
                <a:latin typeface="Arial" panose="020B0604020202020204"/>
              </a:defRPr>
            </a:pPr>
            <a:r>
              <a:t>Not Balanced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45059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68C55"/>
                </a:solidFill>
                <a:latin typeface="Arial" panose="020B0604020202020204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450592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BE4141"/>
                </a:solidFill>
                <a:latin typeface="Arial" panose="020B0604020202020204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1430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91919"/>
                </a:solidFill>
                <a:latin typeface="Arial" panose="020B0604020202020204"/>
              </a:defRPr>
            </a:pPr>
            <a:r>
              <a:t>Complexity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645920"/>
            <a:ext cx="3200400" cy="1234440"/>
          </a:xfrm>
          <a:prstGeom prst="roundRect">
            <a:avLst/>
          </a:prstGeom>
          <a:solidFill>
            <a:srgbClr val="F4F8F8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874519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Arial" panose="020B0604020202020204"/>
              </a:defRPr>
            </a:pPr>
            <a:r>
              <a:t>Time Complexity: O(n)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26771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5A5A"/>
                </a:solidFill>
                <a:latin typeface="Arial" panose="020B0604020202020204"/>
              </a:defRPr>
            </a:pPr>
            <a:r>
              <a:t>Each character is processed once.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2040" y="3154680"/>
            <a:ext cx="3200400" cy="1234440"/>
          </a:xfrm>
          <a:prstGeom prst="roundRect">
            <a:avLst/>
          </a:prstGeom>
          <a:solidFill>
            <a:srgbClr val="F4F8F8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338328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91919"/>
                </a:solidFill>
                <a:latin typeface="Arial" panose="020B0604020202020204"/>
              </a:defRPr>
            </a:pPr>
            <a:r>
              <a:t>Space Complexity: O(n)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776472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5A5A"/>
                </a:solidFill>
                <a:latin typeface="Arial" panose="020B0604020202020204"/>
              </a:defRPr>
            </a:pPr>
            <a:r>
              <a:t>Stack can hold opening symbols.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4617720"/>
            <a:ext cx="3200400" cy="1143000"/>
          </a:xfrm>
          <a:prstGeom prst="roundRect">
            <a:avLst/>
          </a:prstGeom>
          <a:solidFill>
            <a:srgbClr val="EEF5F6"/>
          </a:solidFill>
          <a:ln w="1524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48006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91919"/>
                </a:solidFill>
                <a:latin typeface="Arial" panose="020B0604020202020204"/>
              </a:defRPr>
            </a:pPr>
            <a:r>
              <a:t>Core DSA Concept: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51937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A5A5A"/>
                </a:solidFill>
                <a:latin typeface="Arial" panose="020B0604020202020204"/>
              </a:defRPr>
            </a:pPr>
            <a:r>
              <a:t>LIFO — Last In, First Out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7863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Arial" panose="020B0604020202020204"/>
              </a:defRPr>
            </a:pPr>
            <a:r>
              <a:t>GitHub, Repository &amp; Individual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473952"/>
            <a:ext cx="8229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 panose="020B0604020202020204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78865"/>
            <a:ext cx="7955280" cy="1006475"/>
          </a:xfrm>
          <a:prstGeom prst="roundRect">
            <a:avLst/>
          </a:prstGeom>
          <a:solidFill>
            <a:srgbClr val="EEF4F4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361188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89AFB0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24328"/>
            <a:ext cx="2651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Arial" panose="020B0604020202020204"/>
              </a:defRPr>
            </a:pPr>
            <a:r>
              <a:t>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53512"/>
            <a:ext cx="2651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F5F5F"/>
                </a:solidFill>
                <a:latin typeface="Arial" panose="020B0604020202020204"/>
              </a:defRPr>
            </a:pPr>
            <a:r>
              <a:t>Project repository created on GitHub.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514600"/>
            <a:ext cx="361188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65176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89AFB0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59" y="2624328"/>
            <a:ext cx="2651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Arial" panose="020B0604020202020204"/>
              </a:defRPr>
            </a:pPr>
            <a:r>
              <a:t>UPLOAD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59" y="2953512"/>
            <a:ext cx="2651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F5F5F"/>
                </a:solidFill>
                <a:latin typeface="Arial" panose="020B0604020202020204"/>
              </a:defRPr>
            </a:pPr>
            <a:r>
              <a:t>Python code + documentation.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361188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336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89AFB0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95928"/>
            <a:ext cx="2651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Arial" panose="020B0604020202020204"/>
              </a:defRPr>
            </a:pPr>
            <a:r>
              <a:t>COMMITS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325112"/>
            <a:ext cx="2651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F5F5F"/>
                </a:solidFill>
                <a:latin typeface="Arial" panose="020B0604020202020204"/>
              </a:defRPr>
            </a:pPr>
            <a:r>
              <a:t>Clear messages for every major change.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3886200"/>
            <a:ext cx="3611880" cy="10515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402336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89AFB0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59" y="3995928"/>
            <a:ext cx="26517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Arial" panose="020B0604020202020204"/>
              </a:defRPr>
            </a:pPr>
            <a:r>
              <a:t>COLLABORATE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59" y="4325112"/>
            <a:ext cx="26517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5F5F5F"/>
                </a:solidFill>
                <a:latin typeface="Arial" panose="020B0604020202020204"/>
              </a:defRPr>
            </a:pPr>
            <a:r>
              <a:t>Review, test and improve together.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230368"/>
            <a:ext cx="7635240" cy="713232"/>
          </a:xfrm>
          <a:prstGeom prst="roundRect">
            <a:avLst/>
          </a:prstGeom>
          <a:solidFill>
            <a:srgbClr val="F8F8F8"/>
          </a:solidFill>
          <a:ln w="17780">
            <a:solidFill>
              <a:srgbClr val="89AF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358384"/>
            <a:ext cx="15087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89AFB0"/>
                </a:solidFill>
                <a:latin typeface="Arial" panose="020B0604020202020204"/>
              </a:defRPr>
            </a:pPr>
            <a:r>
              <a:t>MEANINGFUL COMMITS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5321808"/>
            <a:ext cx="54406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Consolas" panose="020B0609020204030204"/>
              </a:defRPr>
            </a:pPr>
            <a:r>
              <a:t>“Implement stack checker” • “Add test cases” • “Update documentation”</a:t>
            </a:r>
          </a:p>
        </p:txBody>
      </p:sp>
      <p:sp>
        <p:nvSpPr>
          <p:cNvPr id="28" name="Text Box 27"/>
          <p:cNvSpPr txBox="1"/>
          <p:nvPr/>
        </p:nvSpPr>
        <p:spPr>
          <a:xfrm>
            <a:off x="998220" y="1256030"/>
            <a:ext cx="6865620" cy="764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Github username :- ritikprtkar44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Github reponame:- Python Programming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template_bg_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s_1786896770581_e6ljqbx8_pptx_p1_final1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3496</Words>
  <Application>WPS Presentation</Application>
  <PresentationFormat>On-screen Show (4:3)</PresentationFormat>
  <Paragraphs>274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Times New Roman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Yash Petkar (Ritik)</cp:lastModifiedBy>
  <cp:revision>2</cp:revision>
  <dcterms:created xsi:type="dcterms:W3CDTF">2013-01-27T09:14:00Z</dcterms:created>
  <dcterms:modified xsi:type="dcterms:W3CDTF">2026-08-16T16:11:08Z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DFC76CDC031140218C4FC63E66AA4BE4_13</vt:lpwstr>
  </property>
</Properties>
</file>